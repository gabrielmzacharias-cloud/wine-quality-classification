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315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84080" y="-1097280"/>
            <a:ext cx="4572000" cy="4572000"/>
          </a:xfrm>
          <a:prstGeom prst="ellipse">
            <a:avLst/>
          </a:prstGeom>
          <a:solidFill>
            <a:srgbClr val="6D2E46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1247120" y="4114800"/>
            <a:ext cx="2743200" cy="2743200"/>
          </a:xfrm>
          <a:prstGeom prst="ellipse">
            <a:avLst/>
          </a:prstGeom>
          <a:solidFill>
            <a:srgbClr val="A26769">
              <a:alpha val="4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463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CHALLENGE · POSTECH FIAP · FASE 2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920240"/>
            <a:ext cx="9601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Classificando a Qualidade de Vinhos</a:t>
            </a:r>
            <a:endParaRPr lang="en-US" sz="40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 Machine Learning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84048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leitura orientada a dados sobre o que torna um vinho tinto "Alta Qualidade" — e o que isso significa para o processo produtivo.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5943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Storytelling da Análise Exploratória de Dados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CONTEXTO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0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Avaliar qualidade de vinho é caro, lento e subjetivo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520440" cy="3108960"/>
          </a:xfrm>
          <a:prstGeom prst="roundRect">
            <a:avLst>
              <a:gd name="adj" fmla="val 3529"/>
            </a:avLst>
          </a:prstGeom>
          <a:solidFill>
            <a:srgbClr val="ECE2D0"/>
          </a:solidFill>
          <a:ln/>
          <a:effectLst>
            <a:outerShdw sx="100000" sy="100000" kx="0" ky="0" algn="bl" rotWithShape="0" blurRad="76200" dist="38100" dir="5400000">
              <a:srgbClr val="888888">
                <a:alpha val="2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210312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Hoje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651760"/>
            <a:ext cx="29718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Especialistas avaliam aroma, sabor, acidez e equilíbrio manualmente — um processo sensorial.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343400" y="1828800"/>
            <a:ext cx="3520440" cy="3108960"/>
          </a:xfrm>
          <a:prstGeom prst="roundRect">
            <a:avLst>
              <a:gd name="adj" fmla="val 3529"/>
            </a:avLst>
          </a:prstGeom>
          <a:solidFill>
            <a:srgbClr val="ECE2D0"/>
          </a:solidFill>
          <a:ln/>
          <a:effectLst>
            <a:outerShdw sx="100000" sy="100000" kx="0" ky="0" algn="bl" rotWithShape="0" blurRad="76200" dist="38100" dir="5400000">
              <a:srgbClr val="888888">
                <a:alpha val="2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617720" y="210312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problema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4617720" y="2651760"/>
            <a:ext cx="29718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Demorado, caro e sujeito à subjetividade de cada avaliador.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138160" y="1828800"/>
            <a:ext cx="3520440" cy="3108960"/>
          </a:xfrm>
          <a:prstGeom prst="roundRect">
            <a:avLst>
              <a:gd name="adj" fmla="val 3529"/>
            </a:avLst>
          </a:prstGeom>
          <a:solidFill>
            <a:srgbClr val="ECE2D0"/>
          </a:solidFill>
          <a:ln/>
          <a:effectLst>
            <a:outerShdw sx="100000" sy="100000" kx="0" ky="0" algn="bl" rotWithShape="0" blurRad="76200" dist="38100" dir="5400000">
              <a:srgbClr val="888888">
                <a:alpha val="2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412480" y="210312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oportunidade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8412480" y="2651760"/>
            <a:ext cx="29718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físico-químicos já coletados na produção podem prever a qualidade final.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5212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4315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Pergunta central: dá para prever se um vinho será "Alta Qualidade" só com dados físico-químicos?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Challenge — Wine Quality Classification  |  POSTECH FIAP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BASE DE DADOS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0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1.599 vinhos tintos, 11 características físico-químicas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92024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1.599</a:t>
            </a:r>
            <a:endParaRPr lang="en-US" sz="5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88036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amostras de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vinho tinto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3383280" y="192024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5200" dirty="0"/>
          </a:p>
        </p:txBody>
      </p:sp>
      <p:sp>
        <p:nvSpPr>
          <p:cNvPr id="7" name="Text 5"/>
          <p:cNvSpPr txBox="1"/>
          <p:nvPr/>
        </p:nvSpPr>
        <p:spPr>
          <a:xfrm>
            <a:off x="3383280" y="288036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variáveis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físico-químicas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217920" y="192024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5200" dirty="0"/>
          </a:p>
        </p:txBody>
      </p:sp>
      <p:sp>
        <p:nvSpPr>
          <p:cNvPr id="9" name="Text 7"/>
          <p:cNvSpPr txBox="1"/>
          <p:nvPr/>
        </p:nvSpPr>
        <p:spPr>
          <a:xfrm>
            <a:off x="6217920" y="288036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valores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faltantes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9052560" y="192024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240</a:t>
            </a:r>
            <a:endParaRPr lang="en-US" sz="5200" dirty="0"/>
          </a:p>
        </p:txBody>
      </p:sp>
      <p:sp>
        <p:nvSpPr>
          <p:cNvPr id="11" name="Text 9"/>
          <p:cNvSpPr txBox="1"/>
          <p:nvPr/>
        </p:nvSpPr>
        <p:spPr>
          <a:xfrm>
            <a:off x="9052560" y="288036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linhas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duplicadas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39776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31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Variáveis disponíveis: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434340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Acidez fixa · Acidez volátil · Ácido cítrico · Açúcar residual · Cloretos · Dióxido de enxofre livre · Dióxido de enxofre total · Densidade · pH · Sulfatos · Teor alcoólico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5486400"/>
            <a:ext cx="11064240" cy="777240"/>
          </a:xfrm>
          <a:prstGeom prst="roundRect">
            <a:avLst>
              <a:gd name="adj" fmla="val 11765"/>
            </a:avLst>
          </a:prstGeom>
          <a:solidFill>
            <a:srgbClr val="ECE2D0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22960" y="560527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31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Wine Quality Dataset (Kaggle/UCI) — Cortez et al., 2009, "Vinho Verde" português. Dados limpos: sem nulos; duplicadas tratadas no pré-processamento.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Challenge — Wine Quality Classification  |  POSTECH FIAP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DEFININDO O ALVO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0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Vinhos "Alta Qualidade" são raros: só 14% da base</a:t>
            </a:r>
            <a:endParaRPr lang="en-US" sz="3000" dirty="0"/>
          </a:p>
        </p:txBody>
      </p:sp>
      <p:pic>
        <p:nvPicPr>
          <p:cNvPr id="4" name="Image 0" descr="../results/02_balanceamento_classe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691640"/>
            <a:ext cx="5486400" cy="42062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0" y="192024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315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Nota ≥ 7 → Alta Qualidade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4315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Nota &lt; 7 → Baixa/Média Qualidade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6400800" y="3017520"/>
            <a:ext cx="52120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86,4%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dos vinhos são Baixa/Média Qualidade
</a:t>
            </a:r>
            <a:pPr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13,6%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são Alta Qualidade
</a:t>
            </a:r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431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isso importa: 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modelo "preguiçoso" já acertaria 86% só chutando sempre "Baixa/Média". Por isso a avaliação foca em precisão, recall e F1 da classe rara — não só em acurácia.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Challenge — Wine Quality Classification  |  POSTECH FIAP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CORRELAÇÕES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0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Três variáveis se destacam na relação com a qualidade</a:t>
            </a:r>
            <a:endParaRPr lang="en-US" sz="3000" dirty="0"/>
          </a:p>
        </p:txBody>
      </p:sp>
      <p:pic>
        <p:nvPicPr>
          <p:cNvPr id="4" name="Image 0" descr="../results/04_correlacao_targe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691640"/>
            <a:ext cx="5760720" cy="44805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583680" y="1828800"/>
            <a:ext cx="457200" cy="45720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658368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223760" y="17830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315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Teor alcoólico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7223760" y="2194560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correlação positiva mais forte — vinhos com mais álcool tendem a nota mais alta.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583680" y="3246120"/>
            <a:ext cx="457200" cy="45720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583680" y="3246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7223760" y="320040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315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Sulfatos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7223760" y="3611880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conservante/antioxidante; mais presente em vinhos mais bem avaliados.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583680" y="4663440"/>
            <a:ext cx="457200" cy="457200"/>
          </a:xfrm>
          <a:prstGeom prst="ellipse">
            <a:avLst/>
          </a:prstGeom>
          <a:solidFill>
            <a:srgbClr val="E76F51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6583680" y="4663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7223760" y="461772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315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Acidez volátil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7223760" y="5029200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correlação negativa mais forte — indica defeito de fermentação (avinagramento).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54864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Challenge — Wine Quality Classification  |  POSTECH FIAP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CE2D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PREPARANDO OS DADOS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0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Quatro decisões antes de treinar qualquer modelo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30352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888888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103120"/>
            <a:ext cx="502920" cy="502920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103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208483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315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Remover duplicadas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508760" y="2487168"/>
            <a:ext cx="4160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240 linhas idênticas removidas para não enviesar o aprendizado.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172200" y="1828800"/>
            <a:ext cx="530352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888888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46520" y="2103120"/>
            <a:ext cx="502920" cy="502920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46520" y="2103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7132320" y="208483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315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Novas variáveis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7132320" y="2487168"/>
            <a:ext cx="4160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Razões entre acidez fixa/volátil e SO₂ livre/total, capturando equilíbrios relevantes.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977640"/>
            <a:ext cx="530352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888888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" y="4251960"/>
            <a:ext cx="502920" cy="502920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2960" y="4251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508760" y="423367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315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Padronização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508760" y="4636008"/>
            <a:ext cx="4160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 nas variáveis numéricas, necessário para a Regressão Logística.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172200" y="3977640"/>
            <a:ext cx="530352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888888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46520" y="4251960"/>
            <a:ext cx="502920" cy="502920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46520" y="4251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7132320" y="423367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315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Balanceamento (SMOTE)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7132320" y="4636008"/>
            <a:ext cx="4160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Aplicado só no treino, gerando exemplos sintéticos de Alta Qualidade.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Challenge — Wine Quality Classification  |  POSTECH FIAP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MODELAGEM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0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Três modelos testados — o Gradient Boosting teve o melhor equilíbrio</a:t>
            </a:r>
            <a:endParaRPr lang="en-US" sz="3000" dirty="0"/>
          </a:p>
        </p:txBody>
      </p:sp>
      <p:pic>
        <p:nvPicPr>
          <p:cNvPr id="4" name="Image 0" descr="../results/08_comparativo_metrica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691640"/>
            <a:ext cx="6949440" cy="4480560"/>
          </a:xfrm>
          <a:prstGeom prst="rect">
            <a:avLst/>
          </a:prstGeom>
        </p:spPr>
      </p:pic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0" y="1920240"/>
          <a:ext cx="3840480" cy="1645920"/>
        </p:xfrm>
        <a:graphic>
          <a:graphicData uri="http://schemas.openxmlformats.org/drawingml/2006/table">
            <a:tbl>
              <a:tblPr/>
              <a:tblGrid>
                <a:gridCol w="1828800"/>
                <a:gridCol w="1097280"/>
                <a:gridCol w="914400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 (Alta Qualidade)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ROC-AUC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4315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Gradient Boosting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2D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4315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0,568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2D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4315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0,886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2D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B20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B20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0,513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B20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0,879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B20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Regressão Logística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B20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0,496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B20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0,893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7772400" y="3931920"/>
            <a:ext cx="38404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431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 é o modelo recomendado: melhor equilíbrio entre encontrar vinhos de Alta Qualidade (recall) e acertar quando aponta um (precisão).</a:t>
            </a:r>
            <a:endParaRPr lang="en-US" sz="1300" dirty="0"/>
          </a:p>
        </p:txBody>
      </p:sp>
      <p:sp>
        <p:nvSpPr>
          <p:cNvPr id="7" name="Text 3"/>
          <p:cNvSpPr txBox="1"/>
          <p:nvPr/>
        </p:nvSpPr>
        <p:spPr>
          <a:xfrm>
            <a:off x="54864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Challenge — Wine Quality Classification  |  POSTECH FIAP</a:t>
            </a:r>
            <a:endParaRPr lang="en-US" sz="900" dirty="0"/>
          </a:p>
        </p:txBody>
      </p:sp>
      <p:sp>
        <p:nvSpPr>
          <p:cNvPr id="8" name="Text 4"/>
          <p:cNvSpPr txBox="1"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INTERPRETAÇÃO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0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modelo aprendeu o que a enologia já sabia</a:t>
            </a:r>
            <a:endParaRPr lang="en-US" sz="3000" dirty="0"/>
          </a:p>
        </p:txBody>
      </p:sp>
      <p:pic>
        <p:nvPicPr>
          <p:cNvPr id="4" name="Image 0" descr="../results/09_feature_importance_rf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691640"/>
            <a:ext cx="5760720" cy="44805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583680" y="1828800"/>
            <a:ext cx="502920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431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1º Teor alcoólico
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Variável mais importante em todos os modelos testados.
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431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2º Sulfatos
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Conservante associado a maior estabilidade e nota.
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431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3º Acidez volátil
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Principal fator negativo — sinal de defeito de fermentação.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Challenge — Wine Quality Classification  |  POSTECH FIAP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4315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ISSO MUDA NA PRÁTICA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Três alavancas para o processo produtivo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520440" cy="3291840"/>
          </a:xfrm>
          <a:prstGeom prst="roundRect">
            <a:avLst>
              <a:gd name="adj" fmla="val 3333"/>
            </a:avLst>
          </a:prstGeom>
          <a:solidFill>
            <a:srgbClr val="6D2E46">
              <a:alpha val="85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219456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Colheita e fermentação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880360"/>
            <a:ext cx="29718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Ajustar o ponto de colheita e a condução da fermentação para atingir teores alcoólicos mais altos (dentro do estilo do vinho).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43400" y="1920240"/>
            <a:ext cx="3520440" cy="3291840"/>
          </a:xfrm>
          <a:prstGeom prst="roundRect">
            <a:avLst>
              <a:gd name="adj" fmla="val 3333"/>
            </a:avLst>
          </a:prstGeom>
          <a:solidFill>
            <a:srgbClr val="6D2E46">
              <a:alpha val="85000"/>
            </a:srgbClr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617720" y="219456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Controle de contaminação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4617720" y="2880360"/>
            <a:ext cx="29718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Priorizar o controle de temperatura e higiene que evitam a formação de acidez volátil (ácido acético).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138160" y="1920240"/>
            <a:ext cx="3520440" cy="3291840"/>
          </a:xfrm>
          <a:prstGeom prst="roundRect">
            <a:avLst>
              <a:gd name="adj" fmla="val 3333"/>
            </a:avLst>
          </a:prstGeom>
          <a:solidFill>
            <a:srgbClr val="6D2E46">
              <a:alpha val="85000"/>
            </a:srgbClr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412480" y="219456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Dosagem de sulfatos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8412480" y="2880360"/>
            <a:ext cx="29718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Ajustar dentro dos limites regulatórios/sensoriais para ganhar estabilidade e qualidade percebida.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54864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recomendado: ferramenta de priorização (quais lotes merecem avaliação sensorial aprofundada), não substituto do enólogo.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Challenge — Wine Quality Classification  |  POSTECH FIAP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CE2D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188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RESUMO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554480"/>
            <a:ext cx="10058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3200" b="1" dirty="0">
                <a:solidFill>
                  <a:srgbClr val="2B20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Sim, dá para prever a qualidade do vinho</a:t>
            </a:r>
            <a:endParaRPr lang="en-US" sz="3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3200" b="1" dirty="0">
                <a:solidFill>
                  <a:srgbClr val="2B20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 dados físico-químicos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200400"/>
            <a:ext cx="9601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</a:t>
            </a:r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foi o modelo mais equilibrado (F1 = 0,57 · ROC-AUC = 0,89), com </a:t>
            </a:r>
            <a:pPr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 alcoólico, sulfatos e acidez volátil</a:t>
            </a:r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como principais variáveis explicativas — resultado coerente com o conhecimento enológico de domínio.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60350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Repositório completo, notebook e código-fonte disponíveis no GitHub do projeto.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2026-08-31T17:38:43Z</dcterms:created>
  <dcterms:modified xsi:type="dcterms:W3CDTF">2026-08-31T17:38:43Z</dcterms:modified>
</cp:coreProperties>
</file>